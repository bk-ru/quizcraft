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 каком году Россия была официально провозглашена империей?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1721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1700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1703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1725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 каком году Россия была официально провозглашена империей?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1721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1700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1703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1725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 какой династии принадлежал Пётр I?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Романовых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Рюриковичей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Годуновых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Шуйских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 какой династии принадлежал Пётр I?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Романовых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Рюриковичей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Годуновых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Шуйских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Кто стал регентшей при Иване V и Петре I после событий 1682 года?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Софья Алексеевна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Екатерина I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Анна Иоанновна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Елизавета Петровна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Кто стал регентшей при Иване V и Петре I после событий 1682 года?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Софья Алексеевна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Екатерина I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Анна Иоанновна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Елизавета Петровна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Какие полки выросли из «потешных полков» Петра I?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Преображенский и Семёновский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Измайловский и Лейб-гвардии Конный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Стрелецкий и Донской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Азовский и Балтийский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Какие полки выросли из «потешных полков» Петра I?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Преображенский и Семёновский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Измайловский и Лейб-гвардии Конный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Стрелецкий и Донской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Азовский и Балтийский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5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Что стало одной из причин неудачи первого Азовского похода 1695 года?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Отсутствие сильного флота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Нехватка союзников против Швеции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Поражение под Полтавой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Отказ от строительства кораблей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5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Что стало одной из причин неудачи первого Азовского похода 1695 года?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Отсутствие сильного флота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Нехватка союзников против Швеции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Поражение под Полтавой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Отказ от строительства кораблей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6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Как называлась зарубежная поездка Петра I 1697–1698 годов?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Великое посольство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Северный союз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Ништадтская миссия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Азовская экспедиция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6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Как называлась зарубежная поездка Петра I 1697–1698 годов?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Великое посольство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Северный союз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Ништадтская миссия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Азовская экспедиция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7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Какое событие стало переломным в Северной войне?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Полтавская битва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Нарвское поражение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Первый Азовский поход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Учреждение Синода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7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Какое событие стало переломным в Северной войне?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Полтавская битва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Нарвское поражение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Первый Азовский поход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Учреждение Синода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8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Какой документ 1722 года разделил военные, гражданские и придворные чины на 14 классов?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Табель о рангах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Воинский устав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Духовный регламент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Указ о губерниях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8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Какой документ 1722 года разделил военные, гражданские и придворные чины на 14 классов?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Табель о рангах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Воинский устав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Духовный регламент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Указ о губерниях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9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Какой орган был создан в 1721 году для управления церковью вместо патриарха?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Святейший правительствующий синод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Правительствующий Сенат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Боярская дума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Адмиралтейств-коллегия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9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Какой орган был создан в 1721 году для управления церковью вместо патриарха?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Святейший правительствующий синод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Правительствующий Сенат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Боярская дума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Адмиралтейств-коллегия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10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Какая форма правления усилилась при Петре I?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Абсолютная монархия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Парламентская монархия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Республика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Федерация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10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Какая форма правления усилилась при Петре I?</a:t>
            </a:r>
          </a:p>
        </p:txBody>
      </p:sp>
      <p:sp>
        <p:nvSpPr>
          <p:cNvPr id="4" name="Octagon 3"/>
          <p:cNvSpPr/>
          <p:nvPr/>
        </p:nvSpPr>
        <p:spPr>
          <a:xfrm>
            <a:off x="548640" y="2926080"/>
            <a:ext cx="5394960" cy="100584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Абсолютная монархия</a:t>
            </a:r>
          </a:p>
        </p:txBody>
      </p:sp>
      <p:sp>
        <p:nvSpPr>
          <p:cNvPr id="7" name="Octagon 6"/>
          <p:cNvSpPr/>
          <p:nvPr/>
        </p:nvSpPr>
        <p:spPr>
          <a:xfrm>
            <a:off x="6217920" y="292608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92608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92608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Парламентская монархия</a:t>
            </a:r>
          </a:p>
        </p:txBody>
      </p:sp>
      <p:sp>
        <p:nvSpPr>
          <p:cNvPr id="10" name="Octagon 9"/>
          <p:cNvSpPr/>
          <p:nvPr/>
        </p:nvSpPr>
        <p:spPr>
          <a:xfrm>
            <a:off x="54864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Республика</a:t>
            </a:r>
          </a:p>
        </p:txBody>
      </p:sp>
      <p:sp>
        <p:nvSpPr>
          <p:cNvPr id="13" name="Octagon 12"/>
          <p:cNvSpPr/>
          <p:nvPr/>
        </p:nvSpPr>
        <p:spPr>
          <a:xfrm>
            <a:off x="6217920" y="4251960"/>
            <a:ext cx="5394960" cy="100584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51960"/>
            <a:ext cx="594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4480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Федерация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11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Пётр I формально стал царём в 1682 году, но начал самостоятельное правление позднее.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11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Пётр I формально стал царём в 1682 году, но начал самостоятельное правление позднее.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12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Второй Азовский поход 1696 года завершился взятием крепости Азов.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12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Второй Азовский поход 1696 года завершился взятием крепости Азов.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13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Великое посольство смогло создать прочный общеевропейский союз против Османской империи.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13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Великое посольство смогло создать прочный общеевропейский союз против Османской империи.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14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Рекрутская повинность была связана с поставкой людей на военную службу.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14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Рекрутская повинность была связана с поставкой людей на военную службу.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15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Россия вступила в Северную войну против Швеции ради выхода к Балтийскому морю.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15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Россия вступила в Северную войну против Швеции ради выхода к Балтийскому морю.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16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Поражение под Нарвой заставило Петра I отказаться от войны со Швецией.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16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Поражение под Нарвой заставило Петра I отказаться от войны со Швецией.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17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Санкт-Петербург был основан в 1703 году в устье Невы.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17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Санкт-Петербург был основан в 1703 году в устье Невы.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18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Правительствующий Сенат при Петре I ограничивал власть монарха как современный парламент.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18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Правительствующий Сенат при Петре I ограничивал власть монарха как современный парламент.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19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Подушная подать взималась с мужского населения податных сословий.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19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Подушная подать взималась с мужского населения податных сословий.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20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Петровская европеизация одинаково глубоко затронула дворянство и основную массу крестьянства.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20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82296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Петровская европеизация одинаково глубоко затронула дворянство и основную массу крестьянства.</a:t>
            </a:r>
          </a:p>
        </p:txBody>
      </p:sp>
      <p:sp>
        <p:nvSpPr>
          <p:cNvPr id="4" name="Octagon 3"/>
          <p:cNvSpPr/>
          <p:nvPr/>
        </p:nvSpPr>
        <p:spPr>
          <a:xfrm>
            <a:off x="1097280" y="3657600"/>
            <a:ext cx="4572000" cy="118872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Истина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492240" y="3657600"/>
            <a:ext cx="4572000" cy="1188720"/>
          </a:xfrm>
          <a:prstGeom prst="octagon">
            <a:avLst/>
          </a:prstGeom>
          <a:gradFill>
            <a:gsLst>
              <a:gs pos="0">
                <a:srgbClr val="1030D0"/>
              </a:gs>
              <a:gs pos="100000">
                <a:srgbClr val="9911EE"/>
              </a:gs>
            </a:gsLst>
            <a:lin ang="5400000" scaled="0"/>
          </a:gradFill>
          <a:ln w="38100">
            <a:solidFill>
              <a:srgbClr val="60A0FF"/>
            </a:solidFill>
          </a:ln>
          <a:effectLst>
            <a:glow rad="2032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657600"/>
            <a:ext cx="5943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657600"/>
            <a:ext cx="3657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Ложь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21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Главным внешнеполитическим событием петровской эпохи стала _____ война 1700–1721 годов.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21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Главным внешнеполитическим событием петровской эпохи стала _____ война 1700–1721 годов.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Северная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22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 1703 году на отвоёванных у Швеции землях был основан город _____.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22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 1703 году на отвоёванных у Швеции землях был основан город _____.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Санкт-Петербург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23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Северная война завершилась подписанием _____ мира в 1721 году.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23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Северная война завершилась подписанием _____ мира в 1721 году.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Ништадтского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24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Вместо прежних форм налогообложения при Петре I была введена _____ подать.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24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Вместо прежних форм налогообложения при Петре I была введена _____ подать.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подушная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25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Крупное предприятие, основанное на разделении труда, где многие операции выполнялись вручную, называется _____.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25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Крупное предприятие, основанное на разделении труда, где многие операции выполнялись вручную, называется _____.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мануфактура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26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 1711 году был создан Правительствующий _____.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26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 1711 году был создан Правительствующий _____.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Сенат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27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 1718–1721 годах вместо старых приказов были созданы _____.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27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 1718–1721 годах вместо старых приказов были созданы _____.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коллегии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28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 1721 году вместо патриарха был учреждён Святейший правительствующий _____.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28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 1721 году вместо патриарха был учреждён Святейший правительствующий _____.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синод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29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 1703 году начала выходить первая русская печатная газета «_____».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29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 1703 году начала выходить первая русская печатная газета «_____».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Ведомости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30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 1722 году Пётр I издал указ о _____, по которому монарх мог сам назначать наследника.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30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 1722 году Пётр I издал указ о _____, по которому монарх мог сам назначать наследника.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престолонаследии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31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Почему получение выхода к морям было важной задачей для России конца XVII века?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31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Почему получение выхода к морям было важной задачей для России конца XVII века?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Отсутствие удобных морских путей ограничивало внешнюю торговлю и военные возможности России.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32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Какой вывод Пётр I сделал после неудачи первого Азовского похода?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32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Какой вывод Пётр I сделал после неудачи первого Азовского похода?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Без сильного флота невозможно успешно вести борьбу за крепости и морские пути.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33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Назовите основные цели Великого посольства 1697–1698 годов.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33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Назовите основные цели Великого посольства 1697–1698 годов.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Укрепление союза против Османской империи, изучение европейского опыта, приглашение иностранных специалистов и освоение технических знаний.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34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Зачем Пётр I вводил европейскую одежду и требовал брить бороды?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34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Зачем Пётр I вводил европейскую одежду и требовал брить бороды?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Он стремился показать разрыв со старым московским укладом и приблизить служилую элиту к европейским нормам поведения.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35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Что означала рекрутская повинность?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35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Что означала рекрутская повинность?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Население, прежде всего податные сословия, должно было поставлять определённое количество людей на военную службу.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36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Почему строительство флота влияло не только на военную сферу, но и на экономику?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36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Почему строительство флота влияло не только на военную сферу, но и на экономику?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Кораблестроение требовало развития металлургии, лесозаготовок, парусного производства, навигации и морского образования.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37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Какое значение имела Полтавская победа 1709 года?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37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Какое значение имела Полтавская победа 1709 года?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Она подорвала военное могущество Швеции и показала, что Россия стала крупной европейской военной силой.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38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Почему подушная подать усиливала контроль государства над населением?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38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Почему подушная подать усиливала контроль государства над населением?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Для её сбора проводились ревизии, то есть переписи податного населения.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39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Как Табель о рангах изменила положение дворянства?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39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Как Табель о рангах изменила положение дворянства?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Она усилила зависимость дворян от государственной службы, поскольку статус и продвижение стали связываться со службой, чином и заслугами.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40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2560320"/>
            <a:ext cx="9418320" cy="182880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 чём состояла противоречивость петровской модернизации?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556688"/>
                </a:solidFill>
              </a:rPr>
              <a:t>Ответьте устно…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40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1371600"/>
            <a:ext cx="9418320" cy="17373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В чём состояла противоречивость петровской модернизации?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solidFill>
            <a:srgbClr val="1030D0"/>
          </a:solidFill>
          <a:ln w="31750">
            <a:solidFill>
              <a:srgbClr val="60A0FF"/>
            </a:solidFill>
          </a:ln>
          <a:effectLst>
            <a:glow rad="228600">
              <a:srgbClr val="60A0FF">
                <a:alpha val="7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Россия усиливалась как держава, но зависимость населения от государства возрастала, а труд и повинности часто оставались принудительными.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41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событие с датой.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Рождение Петра I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1672 год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Провозглашение Ивана V и Петра I царями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1725 год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Основание Санкт-Петербурга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1682 год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Смерть Петра I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1703 год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41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событие с датой.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Рождение Петра I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1672 год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Провозглашение Ивана V и Петра I царями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1682 год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Основание Санкт-Петербурга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1703 год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Смерть Петра I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1725 год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0" y="269748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86400" y="365760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86400" y="461772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86400" y="557784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42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событие с его результатом.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Первый Азовский поход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Стало стимулом для ускорения военных реформ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Второй Азовский поход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Усилило интерес Петра к европейским технологиям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Великое посольство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Завершился взятием крепости Азов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Нарвское поражение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Показал слабость России без сильного флота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42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событие с его результатом.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Первый Азовский поход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Показал слабость России без сильного флота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Второй Азовский поход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Завершился взятием крепости Азов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Великое посольство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Усилило интерес Петра к европейским технологиям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Нарвское поражение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Стало стимулом для ускорения военных реформ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0" y="269748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86400" y="365760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86400" y="461772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86400" y="557784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43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реформу с её содержанием.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Военная реформа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Введение подушной подати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Налоговая реформа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Создание регулярной армии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Губернская реформа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Учреждение Синода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Церковная реформа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Разделение страны на губернии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43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реформу с её содержанием.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Военная реформа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Создание регулярной армии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Налоговая реформа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Введение подушной подати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Губернская реформа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Разделение страны на губернии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Церковная реформа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Учреждение Синода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0" y="269748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86400" y="365760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86400" y="461772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86400" y="557784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44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государственный орган с его функцией.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Правительствующий Сенат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Высший орган управления церковью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Коллегии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Управление отдельными сферами по чётким правилам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Губернаторы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Высшее учреждение для управления страной и контроля администрации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Синод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Сбор налогов, набор рекрутов и управление на местах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44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государственный орган с его функцией.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Правительствующий Сенат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Высшее учреждение для управления страной и контроля администрации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Коллегии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Управление отдельными сферами по чётким правилам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Губернаторы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Сбор налогов, набор рекрутов и управление на местах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Синод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Высший орган управления церковью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0" y="269748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86400" y="365760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86400" y="461772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86400" y="557784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45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понятие с определением.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Рекрутская повинность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Крупное предприятие с разделением труда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Мануфактура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Переписи для контроля и сбора подушной подати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Абсолютная монархия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Поставка людей на военную службу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Ревизии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Сосредоточение верховной власти в руках монарха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45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понятие с определением.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Рекрутская повинность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Поставка людей на военную службу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Мануфактура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Крупное предприятие с разделением труда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Абсолютная монархия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Сосредоточение верховной власти в руках монарха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Ревизии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Переписи для контроля и сбора подушной подати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0" y="269748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86400" y="365760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86400" y="461772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86400" y="557784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46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социальную группу с изменениями в её положении.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Дворяне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Рост налогов, рекрутских наборов и повинностей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Крестьяне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Рост роли бюрократической службы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Чиновники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Усиление обязательной службы и требований к образованию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Городская верхушка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Более сильное влияние европеизации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46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социальную группу с изменениями в её положении.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Дворяне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Усиление обязательной службы и требований к образованию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Крестьяне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Рост налогов, рекрутских наборов и повинностей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Чиновники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Рост роли бюрократической службы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Городская верхушка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Более сильное влияние европеизации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0" y="269748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86400" y="365760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86400" y="461772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86400" y="557784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47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направление политики с примером.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Внешняя политика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Школы математических и навигацких наук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Военная политика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Ассамблеи и европейская одежда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Культурная политика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Северная война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Образовательная политика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Создание регулярной армии и флота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47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направление политики с примером.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Внешняя политика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Северная война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Военная политика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Создание регулярной армии и флота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Культурная политика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Ассамблеи и европейская одежда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Образовательная политика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Школы математических и навигацких наук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0" y="269748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86400" y="365760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86400" y="461772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86400" y="557784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48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войну или восстание с характеристикой.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Северная война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Борьба за выход к Балтийскому морю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Астраханское восстание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Крупная победа русской армии над шведами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Восстание Булавина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Недовольство налогами, произволом и изменениями быта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Полтавская битва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Связано с беглыми крестьянами, казаками и контролем государства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48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войну или восстание с характеристикой.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Северная война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Борьба за выход к Балтийскому морю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Астраханское восстание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Недовольство налогами, произволом и изменениями быта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Восстание Булавина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Связано с беглыми крестьянами, казаками и контролем государства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Полтавская битва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Крупная победа русской армии над шведами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0" y="269748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86400" y="365760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86400" y="461772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86400" y="557784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49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документ или издание с его значением.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Табель о рангах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Закрепил победу России в Северной войне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Указ о престолонаследии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Упорядочила систему чинов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«Ведомости»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Дал монарху право назначать наследника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Ништадтский мир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Первая русская печатная газета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49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документ или издание с его значением.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Табель о рангах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Упорядочила систему чинов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Указ о престолонаследии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Дал монарху право назначать наследника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«Ведомости»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Первая русская печатная газета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Ништадтский мир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Закрепил победу России в Северной войне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0" y="269748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86400" y="365760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86400" y="461772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86400" y="557784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50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причину и следствие в системе петровских реформ.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Северная война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Потребовали чиновников и системы подготовки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Армия и флот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Потребовали переписей и контроля над населением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Налоги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Потребовали налогов, заводов и специалистов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Новые органы управления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Потребовала сильной армии и флота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201168"/>
            <a:ext cx="1463040" cy="347472"/>
          </a:xfrm>
          <a:prstGeom prst="rect">
            <a:avLst/>
          </a:prstGeom>
          <a:solidFill>
            <a:srgbClr val="222A44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Вопрос 50</a:t>
            </a:r>
          </a:p>
        </p:txBody>
      </p:sp>
      <p:sp>
        <p:nvSpPr>
          <p:cNvPr id="3" name="Octagon 2"/>
          <p:cNvSpPr/>
          <p:nvPr/>
        </p:nvSpPr>
        <p:spPr>
          <a:xfrm>
            <a:off x="1371600" y="777240"/>
            <a:ext cx="9418320" cy="1280160"/>
          </a:xfrm>
          <a:prstGeom prst="octagon">
            <a:avLst/>
          </a:prstGeom>
          <a:solidFill>
            <a:srgbClr val="0A0A0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Сопоставьте причину и следствие в системе петровских реформ.</a:t>
            </a:r>
          </a:p>
        </p:txBody>
      </p:sp>
      <p:sp>
        <p:nvSpPr>
          <p:cNvPr id="4" name="Octagon 3"/>
          <p:cNvSpPr/>
          <p:nvPr/>
        </p:nvSpPr>
        <p:spPr>
          <a:xfrm>
            <a:off x="45720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Северная война</a:t>
            </a:r>
          </a:p>
        </p:txBody>
      </p:sp>
      <p:sp>
        <p:nvSpPr>
          <p:cNvPr id="7" name="Octagon 6"/>
          <p:cNvSpPr/>
          <p:nvPr/>
        </p:nvSpPr>
        <p:spPr>
          <a:xfrm>
            <a:off x="6675120" y="228600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Потребовала сильной армии и флота</a:t>
            </a:r>
          </a:p>
        </p:txBody>
      </p:sp>
      <p:sp>
        <p:nvSpPr>
          <p:cNvPr id="9" name="Octagon 8"/>
          <p:cNvSpPr/>
          <p:nvPr/>
        </p:nvSpPr>
        <p:spPr>
          <a:xfrm>
            <a:off x="45720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4612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Армия и флот</a:t>
            </a:r>
          </a:p>
        </p:txBody>
      </p:sp>
      <p:sp>
        <p:nvSpPr>
          <p:cNvPr id="12" name="Octagon 11"/>
          <p:cNvSpPr/>
          <p:nvPr/>
        </p:nvSpPr>
        <p:spPr>
          <a:xfrm>
            <a:off x="6675120" y="324612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Потребовали налогов, заводов и специалистов</a:t>
            </a:r>
          </a:p>
        </p:txBody>
      </p:sp>
      <p:sp>
        <p:nvSpPr>
          <p:cNvPr id="14" name="Octagon 13"/>
          <p:cNvSpPr/>
          <p:nvPr/>
        </p:nvSpPr>
        <p:spPr>
          <a:xfrm>
            <a:off x="45720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Налоги</a:t>
            </a:r>
          </a:p>
        </p:txBody>
      </p:sp>
      <p:sp>
        <p:nvSpPr>
          <p:cNvPr id="17" name="Octagon 16"/>
          <p:cNvSpPr/>
          <p:nvPr/>
        </p:nvSpPr>
        <p:spPr>
          <a:xfrm>
            <a:off x="6675120" y="420624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20624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Потребовали переписей и контроля над населением</a:t>
            </a:r>
          </a:p>
        </p:txBody>
      </p:sp>
      <p:sp>
        <p:nvSpPr>
          <p:cNvPr id="19" name="Octagon 18"/>
          <p:cNvSpPr/>
          <p:nvPr/>
        </p:nvSpPr>
        <p:spPr>
          <a:xfrm>
            <a:off x="45720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594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B44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6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Новые органы управления</a:t>
            </a:r>
          </a:p>
        </p:txBody>
      </p:sp>
      <p:sp>
        <p:nvSpPr>
          <p:cNvPr id="22" name="Octagon 21"/>
          <p:cNvSpPr/>
          <p:nvPr/>
        </p:nvSpPr>
        <p:spPr>
          <a:xfrm>
            <a:off x="6675120" y="5166360"/>
            <a:ext cx="5029200" cy="822960"/>
          </a:xfrm>
          <a:prstGeom prst="octagon">
            <a:avLst/>
          </a:prstGeom>
          <a:solidFill>
            <a:srgbClr val="0D0D1A"/>
          </a:solidFill>
          <a:ln w="1524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5166360"/>
            <a:ext cx="4800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Потребовали чиновников и системы подготовки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0" y="269748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86400" y="365760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86400" y="461772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86400" y="5577840"/>
            <a:ext cx="1188720" cy="0"/>
          </a:xfrm>
          <a:prstGeom prst="line">
            <a:avLst/>
          </a:prstGeom>
          <a:ln w="31750">
            <a:solidFill>
              <a:srgbClr val="88C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