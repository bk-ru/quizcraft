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1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822960"/>
            <a:ext cx="9418320" cy="173736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Какой главный итог петровской эпохи был официально закреплён в 1721 году?</a:t>
            </a:r>
          </a:p>
        </p:txBody>
      </p:sp>
      <p:sp>
        <p:nvSpPr>
          <p:cNvPr id="4" name="Octagon 3"/>
          <p:cNvSpPr/>
          <p:nvPr/>
        </p:nvSpPr>
        <p:spPr>
          <a:xfrm>
            <a:off x="548640" y="2926080"/>
            <a:ext cx="5394960" cy="100584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926080"/>
            <a:ext cx="594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926080"/>
            <a:ext cx="4480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Превращение Русского царства в Российскую империю</a:t>
            </a:r>
          </a:p>
        </p:txBody>
      </p:sp>
      <p:sp>
        <p:nvSpPr>
          <p:cNvPr id="7" name="Octagon 6"/>
          <p:cNvSpPr/>
          <p:nvPr/>
        </p:nvSpPr>
        <p:spPr>
          <a:xfrm>
            <a:off x="6217920" y="2926080"/>
            <a:ext cx="5394960" cy="100584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926080"/>
            <a:ext cx="594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926080"/>
            <a:ext cx="4480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Отмена крепостного права</a:t>
            </a:r>
          </a:p>
        </p:txBody>
      </p:sp>
      <p:sp>
        <p:nvSpPr>
          <p:cNvPr id="10" name="Octagon 9"/>
          <p:cNvSpPr/>
          <p:nvPr/>
        </p:nvSpPr>
        <p:spPr>
          <a:xfrm>
            <a:off x="548640" y="4251960"/>
            <a:ext cx="5394960" cy="100584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51960"/>
            <a:ext cx="594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51960"/>
            <a:ext cx="4480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Создание Земского собора</a:t>
            </a:r>
          </a:p>
        </p:txBody>
      </p:sp>
      <p:sp>
        <p:nvSpPr>
          <p:cNvPr id="13" name="Octagon 12"/>
          <p:cNvSpPr/>
          <p:nvPr/>
        </p:nvSpPr>
        <p:spPr>
          <a:xfrm>
            <a:off x="6217920" y="4251960"/>
            <a:ext cx="5394960" cy="100584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251960"/>
            <a:ext cx="594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251960"/>
            <a:ext cx="4480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Перенос столицы обратно в Москву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1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822960"/>
            <a:ext cx="9418320" cy="173736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Какой главный итог петровской эпохи был официально закреплён в 1721 году?</a:t>
            </a:r>
          </a:p>
        </p:txBody>
      </p:sp>
      <p:sp>
        <p:nvSpPr>
          <p:cNvPr id="4" name="Octagon 3"/>
          <p:cNvSpPr/>
          <p:nvPr/>
        </p:nvSpPr>
        <p:spPr>
          <a:xfrm>
            <a:off x="548640" y="2926080"/>
            <a:ext cx="5394960" cy="1005840"/>
          </a:xfrm>
          <a:prstGeom prst="octagon">
            <a:avLst/>
          </a:prstGeom>
          <a:gradFill>
            <a:gsLst>
              <a:gs pos="0">
                <a:srgbClr val="1030D0"/>
              </a:gs>
              <a:gs pos="100000">
                <a:srgbClr val="9911EE"/>
              </a:gs>
            </a:gsLst>
            <a:lin ang="5400000" scaled="0"/>
          </a:gradFill>
          <a:ln w="38100">
            <a:solidFill>
              <a:srgbClr val="60A0FF"/>
            </a:solidFill>
          </a:ln>
          <a:effectLst>
            <a:glow rad="203200">
              <a:srgbClr val="60A0FF">
                <a:alpha val="7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926080"/>
            <a:ext cx="594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926080"/>
            <a:ext cx="4480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Превращение Русского царства в Российскую империю</a:t>
            </a:r>
          </a:p>
        </p:txBody>
      </p:sp>
      <p:sp>
        <p:nvSpPr>
          <p:cNvPr id="7" name="Octagon 6"/>
          <p:cNvSpPr/>
          <p:nvPr/>
        </p:nvSpPr>
        <p:spPr>
          <a:xfrm>
            <a:off x="6217920" y="2926080"/>
            <a:ext cx="5394960" cy="100584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926080"/>
            <a:ext cx="594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926080"/>
            <a:ext cx="4480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Отмена крепостного права</a:t>
            </a:r>
          </a:p>
        </p:txBody>
      </p:sp>
      <p:sp>
        <p:nvSpPr>
          <p:cNvPr id="10" name="Octagon 9"/>
          <p:cNvSpPr/>
          <p:nvPr/>
        </p:nvSpPr>
        <p:spPr>
          <a:xfrm>
            <a:off x="548640" y="4251960"/>
            <a:ext cx="5394960" cy="100584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51960"/>
            <a:ext cx="594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51960"/>
            <a:ext cx="4480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Создание Земского собора</a:t>
            </a:r>
          </a:p>
        </p:txBody>
      </p:sp>
      <p:sp>
        <p:nvSpPr>
          <p:cNvPr id="13" name="Octagon 12"/>
          <p:cNvSpPr/>
          <p:nvPr/>
        </p:nvSpPr>
        <p:spPr>
          <a:xfrm>
            <a:off x="6217920" y="4251960"/>
            <a:ext cx="5394960" cy="100584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251960"/>
            <a:ext cx="594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251960"/>
            <a:ext cx="4480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Перенос столицы обратно в Москву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2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822960"/>
            <a:ext cx="9418320" cy="173736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Что стало одной из причин неудачи первого Азовского похода 1695 года?</a:t>
            </a:r>
          </a:p>
        </p:txBody>
      </p:sp>
      <p:sp>
        <p:nvSpPr>
          <p:cNvPr id="4" name="Octagon 3"/>
          <p:cNvSpPr/>
          <p:nvPr/>
        </p:nvSpPr>
        <p:spPr>
          <a:xfrm>
            <a:off x="548640" y="2926080"/>
            <a:ext cx="5394960" cy="100584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926080"/>
            <a:ext cx="594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926080"/>
            <a:ext cx="4480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Отсутствие сильного флота</a:t>
            </a:r>
          </a:p>
        </p:txBody>
      </p:sp>
      <p:sp>
        <p:nvSpPr>
          <p:cNvPr id="7" name="Octagon 6"/>
          <p:cNvSpPr/>
          <p:nvPr/>
        </p:nvSpPr>
        <p:spPr>
          <a:xfrm>
            <a:off x="6217920" y="2926080"/>
            <a:ext cx="5394960" cy="100584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926080"/>
            <a:ext cx="594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926080"/>
            <a:ext cx="4480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Поражение под Полтавой</a:t>
            </a:r>
          </a:p>
        </p:txBody>
      </p:sp>
      <p:sp>
        <p:nvSpPr>
          <p:cNvPr id="10" name="Octagon 9"/>
          <p:cNvSpPr/>
          <p:nvPr/>
        </p:nvSpPr>
        <p:spPr>
          <a:xfrm>
            <a:off x="548640" y="4251960"/>
            <a:ext cx="5394960" cy="100584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51960"/>
            <a:ext cx="594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51960"/>
            <a:ext cx="4480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Союз России со Швецией</a:t>
            </a:r>
          </a:p>
        </p:txBody>
      </p:sp>
      <p:sp>
        <p:nvSpPr>
          <p:cNvPr id="13" name="Octagon 12"/>
          <p:cNvSpPr/>
          <p:nvPr/>
        </p:nvSpPr>
        <p:spPr>
          <a:xfrm>
            <a:off x="6217920" y="4251960"/>
            <a:ext cx="5394960" cy="100584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251960"/>
            <a:ext cx="594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251960"/>
            <a:ext cx="4480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Отказ дворян служить в армии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2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822960"/>
            <a:ext cx="9418320" cy="173736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Что стало одной из причин неудачи первого Азовского похода 1695 года?</a:t>
            </a:r>
          </a:p>
        </p:txBody>
      </p:sp>
      <p:sp>
        <p:nvSpPr>
          <p:cNvPr id="4" name="Octagon 3"/>
          <p:cNvSpPr/>
          <p:nvPr/>
        </p:nvSpPr>
        <p:spPr>
          <a:xfrm>
            <a:off x="548640" y="2926080"/>
            <a:ext cx="5394960" cy="1005840"/>
          </a:xfrm>
          <a:prstGeom prst="octagon">
            <a:avLst/>
          </a:prstGeom>
          <a:gradFill>
            <a:gsLst>
              <a:gs pos="0">
                <a:srgbClr val="1030D0"/>
              </a:gs>
              <a:gs pos="100000">
                <a:srgbClr val="9911EE"/>
              </a:gs>
            </a:gsLst>
            <a:lin ang="5400000" scaled="0"/>
          </a:gradFill>
          <a:ln w="38100">
            <a:solidFill>
              <a:srgbClr val="60A0FF"/>
            </a:solidFill>
          </a:ln>
          <a:effectLst>
            <a:glow rad="203200">
              <a:srgbClr val="60A0FF">
                <a:alpha val="7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926080"/>
            <a:ext cx="594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926080"/>
            <a:ext cx="4480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Отсутствие сильного флота</a:t>
            </a:r>
          </a:p>
        </p:txBody>
      </p:sp>
      <p:sp>
        <p:nvSpPr>
          <p:cNvPr id="7" name="Octagon 6"/>
          <p:cNvSpPr/>
          <p:nvPr/>
        </p:nvSpPr>
        <p:spPr>
          <a:xfrm>
            <a:off x="6217920" y="2926080"/>
            <a:ext cx="5394960" cy="100584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926080"/>
            <a:ext cx="594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926080"/>
            <a:ext cx="4480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Поражение под Полтавой</a:t>
            </a:r>
          </a:p>
        </p:txBody>
      </p:sp>
      <p:sp>
        <p:nvSpPr>
          <p:cNvPr id="10" name="Octagon 9"/>
          <p:cNvSpPr/>
          <p:nvPr/>
        </p:nvSpPr>
        <p:spPr>
          <a:xfrm>
            <a:off x="548640" y="4251960"/>
            <a:ext cx="5394960" cy="100584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51960"/>
            <a:ext cx="594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51960"/>
            <a:ext cx="4480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Союз России со Швецией</a:t>
            </a:r>
          </a:p>
        </p:txBody>
      </p:sp>
      <p:sp>
        <p:nvSpPr>
          <p:cNvPr id="13" name="Octagon 12"/>
          <p:cNvSpPr/>
          <p:nvPr/>
        </p:nvSpPr>
        <p:spPr>
          <a:xfrm>
            <a:off x="6217920" y="4251960"/>
            <a:ext cx="5394960" cy="100584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251960"/>
            <a:ext cx="594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251960"/>
            <a:ext cx="4480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Отказ дворян служить в армии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3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822960"/>
            <a:ext cx="9418320" cy="173736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В 1703 году был основан Санкт-Петербург, задуманный как крепость, порт и символ выхода России к Балтийскому морю.</a:t>
            </a:r>
          </a:p>
        </p:txBody>
      </p:sp>
      <p:sp>
        <p:nvSpPr>
          <p:cNvPr id="4" name="Octagon 3"/>
          <p:cNvSpPr/>
          <p:nvPr/>
        </p:nvSpPr>
        <p:spPr>
          <a:xfrm>
            <a:off x="1097280" y="3657600"/>
            <a:ext cx="4572000" cy="118872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657600"/>
            <a:ext cx="594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3657600"/>
            <a:ext cx="3657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Истина</a:t>
            </a:r>
          </a:p>
        </p:txBody>
      </p:sp>
      <p:sp>
        <p:nvSpPr>
          <p:cNvPr id="7" name="Octagon 6"/>
          <p:cNvSpPr/>
          <p:nvPr/>
        </p:nvSpPr>
        <p:spPr>
          <a:xfrm>
            <a:off x="6492240" y="3657600"/>
            <a:ext cx="4572000" cy="118872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3657600"/>
            <a:ext cx="594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3657600"/>
            <a:ext cx="3657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Ложь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3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822960"/>
            <a:ext cx="9418320" cy="173736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В 1703 году был основан Санкт-Петербург, задуманный как крепость, порт и символ выхода России к Балтийскому морю.</a:t>
            </a:r>
          </a:p>
        </p:txBody>
      </p:sp>
      <p:sp>
        <p:nvSpPr>
          <p:cNvPr id="4" name="Octagon 3"/>
          <p:cNvSpPr/>
          <p:nvPr/>
        </p:nvSpPr>
        <p:spPr>
          <a:xfrm>
            <a:off x="1097280" y="3657600"/>
            <a:ext cx="4572000" cy="1188720"/>
          </a:xfrm>
          <a:prstGeom prst="octagon">
            <a:avLst/>
          </a:prstGeom>
          <a:gradFill>
            <a:gsLst>
              <a:gs pos="0">
                <a:srgbClr val="1030D0"/>
              </a:gs>
              <a:gs pos="100000">
                <a:srgbClr val="9911EE"/>
              </a:gs>
            </a:gsLst>
            <a:lin ang="5400000" scaled="0"/>
          </a:gradFill>
          <a:ln w="38100">
            <a:solidFill>
              <a:srgbClr val="60A0FF"/>
            </a:solidFill>
          </a:ln>
          <a:effectLst>
            <a:glow rad="203200">
              <a:srgbClr val="60A0FF">
                <a:alpha val="7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657600"/>
            <a:ext cx="594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3657600"/>
            <a:ext cx="3657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Истина</a:t>
            </a:r>
          </a:p>
        </p:txBody>
      </p:sp>
      <p:sp>
        <p:nvSpPr>
          <p:cNvPr id="7" name="Octagon 6"/>
          <p:cNvSpPr/>
          <p:nvPr/>
        </p:nvSpPr>
        <p:spPr>
          <a:xfrm>
            <a:off x="6492240" y="3657600"/>
            <a:ext cx="4572000" cy="118872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3657600"/>
            <a:ext cx="594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3657600"/>
            <a:ext cx="3657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Ложь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4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822960"/>
            <a:ext cx="9418320" cy="173736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Правительствующий Сенат при Петре I был парламентом, который представлял интересы общества и ограничивал власть монарха.</a:t>
            </a:r>
          </a:p>
        </p:txBody>
      </p:sp>
      <p:sp>
        <p:nvSpPr>
          <p:cNvPr id="4" name="Octagon 3"/>
          <p:cNvSpPr/>
          <p:nvPr/>
        </p:nvSpPr>
        <p:spPr>
          <a:xfrm>
            <a:off x="1097280" y="3657600"/>
            <a:ext cx="4572000" cy="118872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657600"/>
            <a:ext cx="594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3657600"/>
            <a:ext cx="3657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Истина</a:t>
            </a:r>
          </a:p>
        </p:txBody>
      </p:sp>
      <p:sp>
        <p:nvSpPr>
          <p:cNvPr id="7" name="Octagon 6"/>
          <p:cNvSpPr/>
          <p:nvPr/>
        </p:nvSpPr>
        <p:spPr>
          <a:xfrm>
            <a:off x="6492240" y="3657600"/>
            <a:ext cx="4572000" cy="118872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3657600"/>
            <a:ext cx="594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3657600"/>
            <a:ext cx="3657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Ложь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4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822960"/>
            <a:ext cx="9418320" cy="173736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Правительствующий Сенат при Петре I был парламентом, который представлял интересы общества и ограничивал власть монарха.</a:t>
            </a:r>
          </a:p>
        </p:txBody>
      </p:sp>
      <p:sp>
        <p:nvSpPr>
          <p:cNvPr id="4" name="Octagon 3"/>
          <p:cNvSpPr/>
          <p:nvPr/>
        </p:nvSpPr>
        <p:spPr>
          <a:xfrm>
            <a:off x="1097280" y="3657600"/>
            <a:ext cx="4572000" cy="118872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657600"/>
            <a:ext cx="594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3657600"/>
            <a:ext cx="3657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Истина</a:t>
            </a:r>
          </a:p>
        </p:txBody>
      </p:sp>
      <p:sp>
        <p:nvSpPr>
          <p:cNvPr id="7" name="Octagon 6"/>
          <p:cNvSpPr/>
          <p:nvPr/>
        </p:nvSpPr>
        <p:spPr>
          <a:xfrm>
            <a:off x="6492240" y="3657600"/>
            <a:ext cx="4572000" cy="1188720"/>
          </a:xfrm>
          <a:prstGeom prst="octagon">
            <a:avLst/>
          </a:prstGeom>
          <a:gradFill>
            <a:gsLst>
              <a:gs pos="0">
                <a:srgbClr val="1030D0"/>
              </a:gs>
              <a:gs pos="100000">
                <a:srgbClr val="9911EE"/>
              </a:gs>
            </a:gsLst>
            <a:lin ang="5400000" scaled="0"/>
          </a:gradFill>
          <a:ln w="38100">
            <a:solidFill>
              <a:srgbClr val="60A0FF"/>
            </a:solidFill>
          </a:ln>
          <a:effectLst>
            <a:glow rad="203200">
              <a:srgbClr val="60A0FF">
                <a:alpha val="7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3657600"/>
            <a:ext cx="594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3657600"/>
            <a:ext cx="3657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Ложь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5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2560320"/>
            <a:ext cx="9418320" cy="182880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В 1722 году была принята _____, которая разделила военные, гражданские и придворные чины на 14 классов.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556688"/>
                </a:solidFill>
              </a:rPr>
              <a:t>Ответьте устно…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5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1371600"/>
            <a:ext cx="9418320" cy="173736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В 1722 году была принята _____, которая разделила военные, гражданские и придворные чины на 14 классов.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474720"/>
            <a:ext cx="8503920" cy="1371600"/>
          </a:xfrm>
          <a:prstGeom prst="rect">
            <a:avLst/>
          </a:prstGeom>
          <a:solidFill>
            <a:srgbClr val="1030D0"/>
          </a:solidFill>
          <a:ln w="31750">
            <a:solidFill>
              <a:srgbClr val="60A0FF"/>
            </a:solidFill>
          </a:ln>
          <a:effectLst>
            <a:glow rad="228600">
              <a:srgbClr val="60A0FF">
                <a:alpha val="7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Табель о рангах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6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2560320"/>
            <a:ext cx="9418320" cy="182880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Северная война завершилась в 1721 году подписанием _____ мира.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556688"/>
                </a:solidFill>
              </a:rPr>
              <a:t>Ответьте устно…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6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1371600"/>
            <a:ext cx="9418320" cy="173736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Северная война завершилась в 1721 году подписанием _____ мира.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474720"/>
            <a:ext cx="8503920" cy="1371600"/>
          </a:xfrm>
          <a:prstGeom prst="rect">
            <a:avLst/>
          </a:prstGeom>
          <a:solidFill>
            <a:srgbClr val="1030D0"/>
          </a:solidFill>
          <a:ln w="31750">
            <a:solidFill>
              <a:srgbClr val="60A0FF"/>
            </a:solidFill>
          </a:ln>
          <a:effectLst>
            <a:glow rad="228600">
              <a:srgbClr val="60A0FF">
                <a:alpha val="7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Ништадтского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7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2560320"/>
            <a:ext cx="9418320" cy="182880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Почему Пётр I уделял большое внимание созданию регулярной армии и флота?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556688"/>
                </a:solidFill>
              </a:rPr>
              <a:t>Ответьте устно…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7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1371600"/>
            <a:ext cx="9418320" cy="173736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Почему Пётр I уделял большое внимание созданию регулярной армии и флота?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474720"/>
            <a:ext cx="8503920" cy="1371600"/>
          </a:xfrm>
          <a:prstGeom prst="rect">
            <a:avLst/>
          </a:prstGeom>
          <a:solidFill>
            <a:srgbClr val="1030D0"/>
          </a:solidFill>
          <a:ln w="31750">
            <a:solidFill>
              <a:srgbClr val="60A0FF"/>
            </a:solidFill>
          </a:ln>
          <a:effectLst>
            <a:glow rad="228600">
              <a:srgbClr val="60A0FF">
                <a:alpha val="7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России требовались боеспособные вооружённые силы для длительных войн, выхода к морям и усиления международного положения государства.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8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2560320"/>
            <a:ext cx="9418320" cy="182880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Какие последствия имела подушная подать для крестьян и посадских людей?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556688"/>
                </a:solidFill>
              </a:rPr>
              <a:t>Ответьте устно…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8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1371600"/>
            <a:ext cx="9418320" cy="173736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Какие последствия имела подушная подать для крестьян и посадских людей?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474720"/>
            <a:ext cx="8503920" cy="1371600"/>
          </a:xfrm>
          <a:prstGeom prst="rect">
            <a:avLst/>
          </a:prstGeom>
          <a:solidFill>
            <a:srgbClr val="1030D0"/>
          </a:solidFill>
          <a:ln w="31750">
            <a:solidFill>
              <a:srgbClr val="60A0FF"/>
            </a:solidFill>
          </a:ln>
          <a:effectLst>
            <a:glow rad="228600">
              <a:srgbClr val="60A0FF">
                <a:alpha val="7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Она усилила налоговое бремя и контроль государства над населением через ревизии.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9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777240"/>
            <a:ext cx="9418320" cy="128016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Сопоставьте событие петровской эпохи с его значением.</a:t>
            </a:r>
          </a:p>
        </p:txBody>
      </p:sp>
      <p:sp>
        <p:nvSpPr>
          <p:cNvPr id="4" name="Octagon 3"/>
          <p:cNvSpPr/>
          <p:nvPr/>
        </p:nvSpPr>
        <p:spPr>
          <a:xfrm>
            <a:off x="457200" y="228600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594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8600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Полтавская битва</a:t>
            </a:r>
          </a:p>
        </p:txBody>
      </p:sp>
      <p:sp>
        <p:nvSpPr>
          <p:cNvPr id="7" name="Octagon 6"/>
          <p:cNvSpPr/>
          <p:nvPr/>
        </p:nvSpPr>
        <p:spPr>
          <a:xfrm>
            <a:off x="6675120" y="228600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286000"/>
            <a:ext cx="4800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Создание новой столицы и символа выхода к Балтике</a:t>
            </a:r>
          </a:p>
        </p:txBody>
      </p:sp>
      <p:sp>
        <p:nvSpPr>
          <p:cNvPr id="9" name="Octagon 8"/>
          <p:cNvSpPr/>
          <p:nvPr/>
        </p:nvSpPr>
        <p:spPr>
          <a:xfrm>
            <a:off x="457200" y="324612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594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24612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Великое посольство</a:t>
            </a:r>
          </a:p>
        </p:txBody>
      </p:sp>
      <p:sp>
        <p:nvSpPr>
          <p:cNvPr id="12" name="Octagon 11"/>
          <p:cNvSpPr/>
          <p:nvPr/>
        </p:nvSpPr>
        <p:spPr>
          <a:xfrm>
            <a:off x="6675120" y="324612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246120"/>
            <a:ext cx="4800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Перелом в Северной войне в пользу России</a:t>
            </a:r>
          </a:p>
        </p:txBody>
      </p:sp>
      <p:sp>
        <p:nvSpPr>
          <p:cNvPr id="14" name="Octagon 13"/>
          <p:cNvSpPr/>
          <p:nvPr/>
        </p:nvSpPr>
        <p:spPr>
          <a:xfrm>
            <a:off x="457200" y="420624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206240"/>
            <a:ext cx="594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20624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Основание Санкт-Петербурга</a:t>
            </a:r>
          </a:p>
        </p:txBody>
      </p:sp>
      <p:sp>
        <p:nvSpPr>
          <p:cNvPr id="17" name="Octagon 16"/>
          <p:cNvSpPr/>
          <p:nvPr/>
        </p:nvSpPr>
        <p:spPr>
          <a:xfrm>
            <a:off x="6675120" y="420624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206240"/>
            <a:ext cx="4800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Подчинение церкви государству</a:t>
            </a:r>
          </a:p>
        </p:txBody>
      </p:sp>
      <p:sp>
        <p:nvSpPr>
          <p:cNvPr id="19" name="Octagon 18"/>
          <p:cNvSpPr/>
          <p:nvPr/>
        </p:nvSpPr>
        <p:spPr>
          <a:xfrm>
            <a:off x="457200" y="516636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166360"/>
            <a:ext cx="594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16636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Учреждение Синода</a:t>
            </a:r>
          </a:p>
        </p:txBody>
      </p:sp>
      <p:sp>
        <p:nvSpPr>
          <p:cNvPr id="22" name="Octagon 21"/>
          <p:cNvSpPr/>
          <p:nvPr/>
        </p:nvSpPr>
        <p:spPr>
          <a:xfrm>
            <a:off x="6675120" y="516636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5166360"/>
            <a:ext cx="4800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Изучение европейского опыта и приглашение специалистов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9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777240"/>
            <a:ext cx="9418320" cy="128016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Сопоставьте событие петровской эпохи с его значением.</a:t>
            </a:r>
          </a:p>
        </p:txBody>
      </p:sp>
      <p:sp>
        <p:nvSpPr>
          <p:cNvPr id="4" name="Octagon 3"/>
          <p:cNvSpPr/>
          <p:nvPr/>
        </p:nvSpPr>
        <p:spPr>
          <a:xfrm>
            <a:off x="457200" y="228600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594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8600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Полтавская битва</a:t>
            </a:r>
          </a:p>
        </p:txBody>
      </p:sp>
      <p:sp>
        <p:nvSpPr>
          <p:cNvPr id="7" name="Octagon 6"/>
          <p:cNvSpPr/>
          <p:nvPr/>
        </p:nvSpPr>
        <p:spPr>
          <a:xfrm>
            <a:off x="6675120" y="228600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286000"/>
            <a:ext cx="4800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Перелом в Северной войне в пользу России</a:t>
            </a:r>
          </a:p>
        </p:txBody>
      </p:sp>
      <p:sp>
        <p:nvSpPr>
          <p:cNvPr id="9" name="Octagon 8"/>
          <p:cNvSpPr/>
          <p:nvPr/>
        </p:nvSpPr>
        <p:spPr>
          <a:xfrm>
            <a:off x="457200" y="324612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594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24612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Великое посольство</a:t>
            </a:r>
          </a:p>
        </p:txBody>
      </p:sp>
      <p:sp>
        <p:nvSpPr>
          <p:cNvPr id="12" name="Octagon 11"/>
          <p:cNvSpPr/>
          <p:nvPr/>
        </p:nvSpPr>
        <p:spPr>
          <a:xfrm>
            <a:off x="6675120" y="324612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246120"/>
            <a:ext cx="4800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Изучение европейского опыта и приглашение специалистов</a:t>
            </a:r>
          </a:p>
        </p:txBody>
      </p:sp>
      <p:sp>
        <p:nvSpPr>
          <p:cNvPr id="14" name="Octagon 13"/>
          <p:cNvSpPr/>
          <p:nvPr/>
        </p:nvSpPr>
        <p:spPr>
          <a:xfrm>
            <a:off x="457200" y="420624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206240"/>
            <a:ext cx="594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20624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Основание Санкт-Петербурга</a:t>
            </a:r>
          </a:p>
        </p:txBody>
      </p:sp>
      <p:sp>
        <p:nvSpPr>
          <p:cNvPr id="17" name="Octagon 16"/>
          <p:cNvSpPr/>
          <p:nvPr/>
        </p:nvSpPr>
        <p:spPr>
          <a:xfrm>
            <a:off x="6675120" y="420624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206240"/>
            <a:ext cx="4800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Создание новой столицы и символа выхода к Балтике</a:t>
            </a:r>
          </a:p>
        </p:txBody>
      </p:sp>
      <p:sp>
        <p:nvSpPr>
          <p:cNvPr id="19" name="Octagon 18"/>
          <p:cNvSpPr/>
          <p:nvPr/>
        </p:nvSpPr>
        <p:spPr>
          <a:xfrm>
            <a:off x="457200" y="516636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166360"/>
            <a:ext cx="594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16636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Учреждение Синода</a:t>
            </a:r>
          </a:p>
        </p:txBody>
      </p:sp>
      <p:sp>
        <p:nvSpPr>
          <p:cNvPr id="22" name="Octagon 21"/>
          <p:cNvSpPr/>
          <p:nvPr/>
        </p:nvSpPr>
        <p:spPr>
          <a:xfrm>
            <a:off x="6675120" y="516636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5166360"/>
            <a:ext cx="4800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Подчинение церкви государству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0" y="2697480"/>
            <a:ext cx="1188720" cy="0"/>
          </a:xfrm>
          <a:prstGeom prst="line">
            <a:avLst/>
          </a:prstGeom>
          <a:ln w="31750">
            <a:solidFill>
              <a:srgbClr val="88CC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86400" y="3657600"/>
            <a:ext cx="1188720" cy="0"/>
          </a:xfrm>
          <a:prstGeom prst="line">
            <a:avLst/>
          </a:prstGeom>
          <a:ln w="31750">
            <a:solidFill>
              <a:srgbClr val="88CC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86400" y="4617720"/>
            <a:ext cx="1188720" cy="0"/>
          </a:xfrm>
          <a:prstGeom prst="line">
            <a:avLst/>
          </a:prstGeom>
          <a:ln w="31750">
            <a:solidFill>
              <a:srgbClr val="88CC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86400" y="5577840"/>
            <a:ext cx="1188720" cy="0"/>
          </a:xfrm>
          <a:prstGeom prst="line">
            <a:avLst/>
          </a:prstGeom>
          <a:ln w="31750">
            <a:solidFill>
              <a:srgbClr val="88CC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10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777240"/>
            <a:ext cx="9418320" cy="128016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Сопоставьте реформу Петра I с её содержанием.</a:t>
            </a:r>
          </a:p>
        </p:txBody>
      </p:sp>
      <p:sp>
        <p:nvSpPr>
          <p:cNvPr id="4" name="Octagon 3"/>
          <p:cNvSpPr/>
          <p:nvPr/>
        </p:nvSpPr>
        <p:spPr>
          <a:xfrm>
            <a:off x="457200" y="228600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594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8600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Военная реформа</a:t>
            </a:r>
          </a:p>
        </p:txBody>
      </p:sp>
      <p:sp>
        <p:nvSpPr>
          <p:cNvPr id="7" name="Octagon 6"/>
          <p:cNvSpPr/>
          <p:nvPr/>
        </p:nvSpPr>
        <p:spPr>
          <a:xfrm>
            <a:off x="6675120" y="228600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286000"/>
            <a:ext cx="4800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Создание Сената и коллегий</a:t>
            </a:r>
          </a:p>
        </p:txBody>
      </p:sp>
      <p:sp>
        <p:nvSpPr>
          <p:cNvPr id="9" name="Octagon 8"/>
          <p:cNvSpPr/>
          <p:nvPr/>
        </p:nvSpPr>
        <p:spPr>
          <a:xfrm>
            <a:off x="457200" y="324612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594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24612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Губернская реформа</a:t>
            </a:r>
          </a:p>
        </p:txBody>
      </p:sp>
      <p:sp>
        <p:nvSpPr>
          <p:cNvPr id="12" name="Octagon 11"/>
          <p:cNvSpPr/>
          <p:nvPr/>
        </p:nvSpPr>
        <p:spPr>
          <a:xfrm>
            <a:off x="6675120" y="324612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246120"/>
            <a:ext cx="4800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Введение подушной подати</a:t>
            </a:r>
          </a:p>
        </p:txBody>
      </p:sp>
      <p:sp>
        <p:nvSpPr>
          <p:cNvPr id="14" name="Octagon 13"/>
          <p:cNvSpPr/>
          <p:nvPr/>
        </p:nvSpPr>
        <p:spPr>
          <a:xfrm>
            <a:off x="457200" y="420624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206240"/>
            <a:ext cx="594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20624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Налоговая реформа</a:t>
            </a:r>
          </a:p>
        </p:txBody>
      </p:sp>
      <p:sp>
        <p:nvSpPr>
          <p:cNvPr id="17" name="Octagon 16"/>
          <p:cNvSpPr/>
          <p:nvPr/>
        </p:nvSpPr>
        <p:spPr>
          <a:xfrm>
            <a:off x="6675120" y="420624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206240"/>
            <a:ext cx="4800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Разделение страны на губернии</a:t>
            </a:r>
          </a:p>
        </p:txBody>
      </p:sp>
      <p:sp>
        <p:nvSpPr>
          <p:cNvPr id="19" name="Octagon 18"/>
          <p:cNvSpPr/>
          <p:nvPr/>
        </p:nvSpPr>
        <p:spPr>
          <a:xfrm>
            <a:off x="457200" y="516636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166360"/>
            <a:ext cx="594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16636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Реформа управления</a:t>
            </a:r>
          </a:p>
        </p:txBody>
      </p:sp>
      <p:sp>
        <p:nvSpPr>
          <p:cNvPr id="22" name="Octagon 21"/>
          <p:cNvSpPr/>
          <p:nvPr/>
        </p:nvSpPr>
        <p:spPr>
          <a:xfrm>
            <a:off x="6675120" y="516636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5166360"/>
            <a:ext cx="4800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Создание регулярной армии на основе рекрутской повинности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463040" cy="347472"/>
          </a:xfrm>
          <a:prstGeom prst="rect">
            <a:avLst/>
          </a:prstGeom>
          <a:solidFill>
            <a:srgbClr val="222A44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Вопрос 10</a:t>
            </a:r>
          </a:p>
        </p:txBody>
      </p:sp>
      <p:sp>
        <p:nvSpPr>
          <p:cNvPr id="3" name="Octagon 2"/>
          <p:cNvSpPr/>
          <p:nvPr/>
        </p:nvSpPr>
        <p:spPr>
          <a:xfrm>
            <a:off x="1371600" y="777240"/>
            <a:ext cx="9418320" cy="1280160"/>
          </a:xfrm>
          <a:prstGeom prst="octagon">
            <a:avLst/>
          </a:prstGeom>
          <a:solidFill>
            <a:srgbClr val="0A0A0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Сопоставьте реформу Петра I с её содержанием.</a:t>
            </a:r>
          </a:p>
        </p:txBody>
      </p:sp>
      <p:sp>
        <p:nvSpPr>
          <p:cNvPr id="4" name="Octagon 3"/>
          <p:cNvSpPr/>
          <p:nvPr/>
        </p:nvSpPr>
        <p:spPr>
          <a:xfrm>
            <a:off x="457200" y="228600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594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8600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Военная реформа</a:t>
            </a:r>
          </a:p>
        </p:txBody>
      </p:sp>
      <p:sp>
        <p:nvSpPr>
          <p:cNvPr id="7" name="Octagon 6"/>
          <p:cNvSpPr/>
          <p:nvPr/>
        </p:nvSpPr>
        <p:spPr>
          <a:xfrm>
            <a:off x="6675120" y="228600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286000"/>
            <a:ext cx="4800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Создание регулярной армии на основе рекрутской повинности</a:t>
            </a:r>
          </a:p>
        </p:txBody>
      </p:sp>
      <p:sp>
        <p:nvSpPr>
          <p:cNvPr id="9" name="Octagon 8"/>
          <p:cNvSpPr/>
          <p:nvPr/>
        </p:nvSpPr>
        <p:spPr>
          <a:xfrm>
            <a:off x="457200" y="324612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594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24612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Губернская реформа</a:t>
            </a:r>
          </a:p>
        </p:txBody>
      </p:sp>
      <p:sp>
        <p:nvSpPr>
          <p:cNvPr id="12" name="Octagon 11"/>
          <p:cNvSpPr/>
          <p:nvPr/>
        </p:nvSpPr>
        <p:spPr>
          <a:xfrm>
            <a:off x="6675120" y="324612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246120"/>
            <a:ext cx="4800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Разделение страны на губернии</a:t>
            </a:r>
          </a:p>
        </p:txBody>
      </p:sp>
      <p:sp>
        <p:nvSpPr>
          <p:cNvPr id="14" name="Octagon 13"/>
          <p:cNvSpPr/>
          <p:nvPr/>
        </p:nvSpPr>
        <p:spPr>
          <a:xfrm>
            <a:off x="457200" y="420624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206240"/>
            <a:ext cx="594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20624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Налоговая реформа</a:t>
            </a:r>
          </a:p>
        </p:txBody>
      </p:sp>
      <p:sp>
        <p:nvSpPr>
          <p:cNvPr id="17" name="Octagon 16"/>
          <p:cNvSpPr/>
          <p:nvPr/>
        </p:nvSpPr>
        <p:spPr>
          <a:xfrm>
            <a:off x="6675120" y="420624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206240"/>
            <a:ext cx="4800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Введение подушной подати</a:t>
            </a:r>
          </a:p>
        </p:txBody>
      </p:sp>
      <p:sp>
        <p:nvSpPr>
          <p:cNvPr id="19" name="Octagon 18"/>
          <p:cNvSpPr/>
          <p:nvPr/>
        </p:nvSpPr>
        <p:spPr>
          <a:xfrm>
            <a:off x="457200" y="516636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166360"/>
            <a:ext cx="594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B44FF"/>
                </a:solidFill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16636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Реформа управления</a:t>
            </a:r>
          </a:p>
        </p:txBody>
      </p:sp>
      <p:sp>
        <p:nvSpPr>
          <p:cNvPr id="22" name="Octagon 21"/>
          <p:cNvSpPr/>
          <p:nvPr/>
        </p:nvSpPr>
        <p:spPr>
          <a:xfrm>
            <a:off x="6675120" y="5166360"/>
            <a:ext cx="5029200" cy="822960"/>
          </a:xfrm>
          <a:prstGeom prst="octagon">
            <a:avLst/>
          </a:prstGeom>
          <a:solidFill>
            <a:srgbClr val="0D0D1A"/>
          </a:solidFill>
          <a:ln w="1524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5166360"/>
            <a:ext cx="4800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Создание Сената и коллегий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0" y="2697480"/>
            <a:ext cx="1188720" cy="0"/>
          </a:xfrm>
          <a:prstGeom prst="line">
            <a:avLst/>
          </a:prstGeom>
          <a:ln w="31750">
            <a:solidFill>
              <a:srgbClr val="88CC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86400" y="3657600"/>
            <a:ext cx="1188720" cy="0"/>
          </a:xfrm>
          <a:prstGeom prst="line">
            <a:avLst/>
          </a:prstGeom>
          <a:ln w="31750">
            <a:solidFill>
              <a:srgbClr val="88CC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86400" y="4617720"/>
            <a:ext cx="1188720" cy="0"/>
          </a:xfrm>
          <a:prstGeom prst="line">
            <a:avLst/>
          </a:prstGeom>
          <a:ln w="31750">
            <a:solidFill>
              <a:srgbClr val="88CC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86400" y="5577840"/>
            <a:ext cx="1188720" cy="0"/>
          </a:xfrm>
          <a:prstGeom prst="line">
            <a:avLst/>
          </a:prstGeom>
          <a:ln w="31750">
            <a:solidFill>
              <a:srgbClr val="88CC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